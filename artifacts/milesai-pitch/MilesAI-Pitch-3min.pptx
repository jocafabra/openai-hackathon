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72ce187d141ab" /><Relationship Type="http://schemas.openxmlformats.org/officeDocument/2006/relationships/extended-properties" Target="/docProps/app.xml" Id="R44179f5b45374644" /><Relationship Type="http://schemas.openxmlformats.org/officeDocument/2006/relationships/officeDocument" Target="/ppt/presentation.xml" Id="R257f268e53f0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30296358d4289"/>
  </p:sldMasterIdLst>
  <p:notesMasterIdLst>
    <p:notesMasterId xmlns:r="http://schemas.openxmlformats.org/officeDocument/2006/relationships" r:id="R5a3cb31d3de844f2"/>
  </p:notesMasterIdLst>
  <p:sldIdLst>
    <p:sldId xmlns:r="http://schemas.openxmlformats.org/officeDocument/2006/relationships" id="256" r:id="R6ff10bcb5e524396"/>
    <p:sldId xmlns:r="http://schemas.openxmlformats.org/officeDocument/2006/relationships" id="257" r:id="R25e91f58a5454ce0"/>
    <p:sldId xmlns:r="http://schemas.openxmlformats.org/officeDocument/2006/relationships" id="258" r:id="R601f1accd0bf432b"/>
    <p:sldId xmlns:r="http://schemas.openxmlformats.org/officeDocument/2006/relationships" id="259" r:id="Rfe187884b6ba47e3"/>
    <p:sldId xmlns:r="http://schemas.openxmlformats.org/officeDocument/2006/relationships" id="260" r:id="R819527668c0c44fe"/>
    <p:sldId xmlns:r="http://schemas.openxmlformats.org/officeDocument/2006/relationships" id="261" r:id="R80ea900c5354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67aa51d61405a" /><Relationship Type="http://schemas.openxmlformats.org/officeDocument/2006/relationships/slideMaster" Target="/ppt/slideMasters/slideMaster1.xml" Id="R36930296358d4289" /><Relationship Type="http://schemas.openxmlformats.org/officeDocument/2006/relationships/notesMaster" Target="/ppt/notesMasters/notesMaster1.xml" Id="R5a3cb31d3de844f2" /><Relationship Type="http://schemas.openxmlformats.org/officeDocument/2006/relationships/presProps" Target="/ppt/presProps.xml" Id="Reff9bf1797774b2d" /><Relationship Type="http://schemas.openxmlformats.org/officeDocument/2006/relationships/tableStyles" Target="/ppt/tableStyles.xml" Id="Rdaff7601f9b84a0e" /><Relationship Type="http://schemas.openxmlformats.org/officeDocument/2006/relationships/slide" Target="/ppt/slides/slide1.xml" Id="R6ff10bcb5e524396" /><Relationship Type="http://schemas.openxmlformats.org/officeDocument/2006/relationships/slide" Target="/ppt/slides/slide2.xml" Id="R25e91f58a5454ce0" /><Relationship Type="http://schemas.openxmlformats.org/officeDocument/2006/relationships/slide" Target="/ppt/slides/slide3.xml" Id="R601f1accd0bf432b" /><Relationship Type="http://schemas.openxmlformats.org/officeDocument/2006/relationships/slide" Target="/ppt/slides/slide4.xml" Id="Rfe187884b6ba47e3" /><Relationship Type="http://schemas.openxmlformats.org/officeDocument/2006/relationships/slide" Target="/ppt/slides/slide5.xml" Id="R819527668c0c44fe" /><Relationship Type="http://schemas.openxmlformats.org/officeDocument/2006/relationships/slide" Target="/ppt/slides/slide6.xml" Id="R80ea900c5354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fb01965ab42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1bfd9ddb84943" /><Relationship Type="http://schemas.openxmlformats.org/officeDocument/2006/relationships/notesMaster" Target="/ppt/notesMasters/notesMaster1.xml" Id="Rfadcd672fcbc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2954c8ee8440c" /><Relationship Type="http://schemas.openxmlformats.org/officeDocument/2006/relationships/notesMaster" Target="/ppt/notesMasters/notesMaster1.xml" Id="Rf2698369409e4c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bfe58bd97415f" /><Relationship Type="http://schemas.openxmlformats.org/officeDocument/2006/relationships/notesMaster" Target="/ppt/notesMasters/notesMaster1.xml" Id="Rb440d91127214c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c043bcd5df4f65" /><Relationship Type="http://schemas.openxmlformats.org/officeDocument/2006/relationships/notesMaster" Target="/ppt/notesMasters/notesMaster1.xml" Id="R7037640c9b0743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849a0c0e294305" /><Relationship Type="http://schemas.openxmlformats.org/officeDocument/2006/relationships/notesMaster" Target="/ppt/notesMasters/notesMaster1.xml" Id="R15c8e83dbfdd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93805a4124b13" /><Relationship Type="http://schemas.openxmlformats.org/officeDocument/2006/relationships/notesMaster" Target="/ppt/notesMasters/notesMaster1.xml" Id="R3d162770b7f6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15 segundos. Abra com a tensão: um agente precisa decidir rapidamente entre dinheiro, pontos ou milhas, mas a resposta muda para cada cliente e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public/brand/milesai-logo-light.png</a:t>
            </a:r>
          </a:p>
          <a:p xmlns:a="http://schemas.openxmlformats.org/drawingml/2006/main">
            <a:r>
              <a:t>- public/brand/milesai-mark.png</a:t>
            </a:r>
          </a:p>
          <a:p xmlns:a="http://schemas.openxmlformats.org/drawingml/2006/main">
            <a:r>
              <a:t>- MilesAI_Hackathon_Spec.md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25 segundos. Mostre que não é apenas procurar uma passagem. A decisão depende de informações fragmentadas e muda conforme o cliente, a carteira e a oferta.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MilesAI_Hackathon_Spec.md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 Mostre o dashboard real. Aponte clientes, oportunidades e ações do dia. Explique que o agente não precisa começar abrindo planilhas e várias abas.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artifacts/milesai-demo/scenes/01-dashboard.jpg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 Esta é a explicação central para o júri. A OpenAI não inventa números: ela estrutura o contexto e explica a análise. O cálculo fica em um motor determinístico, testado e auditável. Sem chave, o produto continua funcionando.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artifacts/milesai-demo/scenes/07-como-funciona.jpg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src/domain/strategy-engine.ts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 Explique a proatividade: quando chega uma condição compatível, o MilesAI cruza com as viagens e carteiras e cria somente as oportunidades relevantes. Reforce que dados mock e live são identificados e que compra, transferência e emissão exigem confirmação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artifacts/milesai-demo/scenes/06-oportunidades.jpg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src/domain/operational.ts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20 segundos. Feche com impacto: menos trabalho manual, decisões mais seguras e um atendimento mais personalizado. Termine com a frase: cada cliente tem uma viagem diferente; agora, cada viagem também pode ter uma estratégia inteligente.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public/brand/milesai-logo-light.png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87547969348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c0990ea8fc4e2f" /><Relationship Type="http://schemas.openxmlformats.org/officeDocument/2006/relationships/slideLayout" Target="/ppt/slideLayouts/slideLayout1.xml" Id="R43afa56a4537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afa56a4537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742096ea45bf" /><Relationship Type="http://schemas.openxmlformats.org/officeDocument/2006/relationships/image" Target="/ppt/media/image.png" Id="R1094e36a9282494e" /><Relationship Type="http://schemas.openxmlformats.org/officeDocument/2006/relationships/image" Target="/ppt/media/image2.png" Id="R70cf7f63b5d94174" /><Relationship Type="http://schemas.openxmlformats.org/officeDocument/2006/relationships/notesSlide" Target="/ppt/notesSlides/notesSlide1.xml" Id="R6f79efa4b99442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d5150de1740ca" /><Relationship Type="http://schemas.openxmlformats.org/officeDocument/2006/relationships/image" Target="/ppt/media/image3.png" Id="R8d300f86bd084a33" /><Relationship Type="http://schemas.openxmlformats.org/officeDocument/2006/relationships/notesSlide" Target="/ppt/notesSlides/notesSlide2.xml" Id="R2641cbe6df16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0e75674414f7a" /><Relationship Type="http://schemas.openxmlformats.org/officeDocument/2006/relationships/image" Target="/ppt/media/image4.png" Id="R30ac0ae57d3748cd" /><Relationship Type="http://schemas.openxmlformats.org/officeDocument/2006/relationships/image" Target="/ppt/media/image.jpeg" Id="Rf87c78d389f741bc" /><Relationship Type="http://schemas.openxmlformats.org/officeDocument/2006/relationships/notesSlide" Target="/ppt/notesSlides/notesSlide3.xml" Id="Rf15ca0f2982d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9321d50634931" /><Relationship Type="http://schemas.openxmlformats.org/officeDocument/2006/relationships/image" Target="/ppt/media/image5.png" Id="Rc7a75678f7354a36" /><Relationship Type="http://schemas.openxmlformats.org/officeDocument/2006/relationships/image" Target="/ppt/media/image2.jpeg" Id="Refc12440b91f43dc" /><Relationship Type="http://schemas.openxmlformats.org/officeDocument/2006/relationships/notesSlide" Target="/ppt/notesSlides/notesSlide4.xml" Id="R1ad6f67e85c6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e08834fdc4f16" /><Relationship Type="http://schemas.openxmlformats.org/officeDocument/2006/relationships/image" Target="/ppt/media/image6.png" Id="R6d43a744411c430f" /><Relationship Type="http://schemas.openxmlformats.org/officeDocument/2006/relationships/image" Target="/ppt/media/image3.jpeg" Id="R8b061722bb8948ea" /><Relationship Type="http://schemas.openxmlformats.org/officeDocument/2006/relationships/notesSlide" Target="/ppt/notesSlides/notesSlide5.xml" Id="Rdd44a17757c148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bdbba32dc4013" /><Relationship Type="http://schemas.openxmlformats.org/officeDocument/2006/relationships/image" Target="/ppt/media/image7.png" Id="Rc097e0d5c23d4154" /><Relationship Type="http://schemas.openxmlformats.org/officeDocument/2006/relationships/hyperlink" Target="https://reproduced-difficulty-entitled-characteristics.trycloudflare.com/" TargetMode="External" Id="R9d3fcbf1abf84a3c" /><Relationship Type="http://schemas.openxmlformats.org/officeDocument/2006/relationships/notesSlide" Target="/ppt/notesSlides/notesSlide6.xml" Id="R7da4645dacc44e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4e36a9282494e"/>
          <a:stretch xmlns:a="http://schemas.openxmlformats.org/drawingml/2006/main"/>
        </p:blipFill>
        <p:spPr>
          <a:xfrm xmlns:a="http://schemas.openxmlformats.org/drawingml/2006/main">
            <a:off x="720247" y="590550"/>
            <a:ext cx="2788606" cy="70485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226815F-ACDC-4E46-93E4-143FDC6C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FBFAF6"/>
                </a:solidFill>
                <a:latin typeface="PT Serif"/>
                <a:ea typeface="PT Serif"/>
                <a:cs typeface="PT Serif"/>
              </a:defRPr>
            </a:pPr>
            <a:r>
              <a:rPr sz="5100" b="0">
                <a:solidFill>
                  <a:srgbClr val="FBFAF6"/>
                </a:solidFill>
                <a:latin typeface="PT Serif"/>
                <a:ea typeface="PT Serif"/>
                <a:cs typeface="PT Serif"/>
              </a:rPr>
              <a:t>A decisão certa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FBFAF6"/>
                </a:solidFill>
                <a:latin typeface="PT Serif"/>
                <a:ea typeface="PT Serif"/>
                <a:cs typeface="PT Serif"/>
              </a:defRPr>
            </a:pPr>
            <a:r>
              <a:rPr sz="5100" b="0">
                <a:solidFill>
                  <a:srgbClr val="FBFAF6"/>
                </a:solidFill>
                <a:latin typeface="PT Serif"/>
                <a:ea typeface="PT Serif"/>
                <a:cs typeface="PT Serif"/>
              </a:rPr>
              <a:t>para cada viagem.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092872-D608-4D51-BC48-27950C2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CE9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E9DC"/>
                </a:solidFill>
                <a:latin typeface="Arial"/>
                <a:ea typeface="Arial"/>
                <a:cs typeface="Arial"/>
              </a:rPr>
              <a:t>Cockpit inteligente para pequenas agências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CE9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E9DC"/>
                </a:solidFill>
                <a:latin typeface="Arial"/>
                <a:ea typeface="Arial"/>
                <a:cs typeface="Arial"/>
              </a:rPr>
              <a:t>e agentes independentes.</a:t>
            </a:r>
          </a:p>
        </p:txBody>
      </p:sp>
      <p:sp>
        <p:nvSpPr>
          <p:cNvPr id="4" name="gold-orbit">
            <a:extLst xmlns:a="http://schemas.openxmlformats.org/drawingml/2006/main">
              <a:ext uri="{FF2B5EF4-FFF2-40B4-BE49-F238E27FC236}">
                <a16:creationId xmlns:a16="http://schemas.microsoft.com/office/drawing/2014/main" id="{E2C3AC12-B3BA-4D77-A405-91ADB764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29540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C796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f7f63b5d94174"/>
          <a:stretch xmlns:a="http://schemas.openxmlformats.org/drawingml/2006/main"/>
        </p:blipFill>
        <p:spPr>
          <a:xfrm xmlns:a="http://schemas.openxmlformats.org/drawingml/2006/main">
            <a:off x="9753600" y="16383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6" name="cover-event">
            <a:extLst xmlns:a="http://schemas.openxmlformats.org/drawingml/2006/main">
              <a:ext uri="{FF2B5EF4-FFF2-40B4-BE49-F238E27FC236}">
                <a16:creationId xmlns:a16="http://schemas.microsoft.com/office/drawing/2014/main" id="{E6EC95B4-FDA2-451B-AA45-15E7FE7D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C7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FC796"/>
                </a:solidFill>
                <a:latin typeface="Arial"/>
                <a:ea typeface="Arial"/>
                <a:cs typeface="Arial"/>
              </a:rPr>
              <a:t>OPENAI HACKATHON BRASIL  ·  PEQUENOS NEGÓCIOS</a:t>
            </a:r>
          </a:p>
        </p:txBody>
      </p:sp>
    </p:spTree>
    <p:extLst>
      <p:ext uri="{BB962C8B-B14F-4D97-AF65-F5344CB8AC3E}">
        <p14:creationId xmlns:p14="http://schemas.microsoft.com/office/powerpoint/2010/main" val="488743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00f86bd084a33"/>
          <a:stretch xmlns:a="http://schemas.openxmlformats.org/drawingml/2006/main"/>
        </p:blipFill>
        <p:spPr>
          <a:xfrm xmlns:a="http://schemas.openxmlformats.org/drawingml/2006/main">
            <a:off x="571500" y="3238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brand-2">
            <a:extLst xmlns:a="http://schemas.openxmlformats.org/drawingml/2006/main">
              <a:ext uri="{FF2B5EF4-FFF2-40B4-BE49-F238E27FC236}">
                <a16:creationId xmlns:a16="http://schemas.microsoft.com/office/drawing/2014/main" id="{EA299D29-5BB5-4080-AC94-BD0EA77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4B"/>
                </a:solidFill>
                <a:latin typeface="Arial"/>
                <a:ea typeface="Arial"/>
                <a:cs typeface="Arial"/>
              </a:rPr>
              <a:t>MILESAI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29F0A40-A067-47E9-9692-2103E0B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D36B6112-8EDF-47E0-B55D-B8927BA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6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A melhor tarifa não está</a:t>
            </a:r>
          </a:p>
          <a:p xmlns:a="http://schemas.openxmlformats.org/drawingml/2006/main">
            <a:pPr algn="l">
              <a:defRPr sz="36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6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em um único lugar.</a:t>
            </a:r>
          </a:p>
        </p:txBody>
      </p:sp>
      <p:sp>
        <p:nvSpPr>
          <p:cNvPr id="5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5711B659-5625-44E8-ACC8-7860CC5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O agente cruza contexto do cliente, saldo, validade, preço do milheiro, taxas, disponibilidade e promoções — quase sempre à mão.</a:t>
            </a:r>
          </a:p>
        </p:txBody>
      </p:sp>
      <p:sp>
        <p:nvSpPr>
          <p:cNvPr id="6" name="money">
            <a:extLst xmlns:a="http://schemas.openxmlformats.org/drawingml/2006/main">
              <a:ext uri="{FF2B5EF4-FFF2-40B4-BE49-F238E27FC236}">
                <a16:creationId xmlns:a16="http://schemas.microsoft.com/office/drawing/2014/main" id="{3E39296C-6D13-479C-9283-16631BB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BF96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F9659"/>
                </a:solidFill>
                <a:latin typeface="Arial"/>
                <a:ea typeface="Arial"/>
                <a:cs typeface="Arial"/>
              </a:rPr>
              <a:t>DINHEIRO</a:t>
            </a:r>
          </a:p>
        </p:txBody>
      </p:sp>
      <p:sp>
        <p:nvSpPr>
          <p:cNvPr id="7" name="money-rule">
            <a:extLst xmlns:a="http://schemas.openxmlformats.org/drawingml/2006/main">
              <a:ext uri="{FF2B5EF4-FFF2-40B4-BE49-F238E27FC236}">
                <a16:creationId xmlns:a16="http://schemas.microsoft.com/office/drawing/2014/main" id="{B5CB0F31-860F-484F-85CE-E4AB870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19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7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oints">
            <a:extLst xmlns:a="http://schemas.openxmlformats.org/drawingml/2006/main">
              <a:ext uri="{FF2B5EF4-FFF2-40B4-BE49-F238E27FC236}">
                <a16:creationId xmlns:a16="http://schemas.microsoft.com/office/drawing/2014/main" id="{CC232C58-7897-4A66-ADED-EF922B44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B57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574B"/>
                </a:solidFill>
                <a:latin typeface="Arial"/>
                <a:ea typeface="Arial"/>
                <a:cs typeface="Arial"/>
              </a:rPr>
              <a:t>PONTOS</a:t>
            </a:r>
          </a:p>
        </p:txBody>
      </p:sp>
      <p:sp>
        <p:nvSpPr>
          <p:cNvPr id="9" name="points-rule">
            <a:extLst xmlns:a="http://schemas.openxmlformats.org/drawingml/2006/main">
              <a:ext uri="{FF2B5EF4-FFF2-40B4-BE49-F238E27FC236}">
                <a16:creationId xmlns:a16="http://schemas.microsoft.com/office/drawing/2014/main" id="{EE22C24B-38FE-4233-A601-57E67C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">
            <a:extLst xmlns:a="http://schemas.openxmlformats.org/drawingml/2006/main">
              <a:ext uri="{FF2B5EF4-FFF2-40B4-BE49-F238E27FC236}">
                <a16:creationId xmlns:a16="http://schemas.microsoft.com/office/drawing/2014/main" id="{4739F98A-D537-4F8D-A0D0-53DF100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MILHAS</a:t>
            </a:r>
          </a:p>
        </p:txBody>
      </p:sp>
      <p:sp>
        <p:nvSpPr>
          <p:cNvPr id="11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FC64F42F-385A-4D73-8937-42876F2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5312B"/>
                </a:solidFill>
                <a:latin typeface="PT Serif"/>
                <a:ea typeface="PT Serif"/>
                <a:cs typeface="PT Serif"/>
              </a:defRPr>
            </a:pPr>
            <a:r>
              <a:rPr sz="2550" b="0">
                <a:solidFill>
                  <a:srgbClr val="15312B"/>
                </a:solidFill>
                <a:latin typeface="PT Serif"/>
                <a:ea typeface="PT Serif"/>
                <a:cs typeface="PT Serif"/>
              </a:rPr>
              <a:t>Cada mudança pode alterar a recomendação.</a:t>
            </a:r>
          </a:p>
        </p:txBody>
      </p:sp>
      <p:sp>
        <p:nvSpPr>
          <p:cNvPr id="12" name="problem-result">
            <a:extLst xmlns:a="http://schemas.openxmlformats.org/drawingml/2006/main">
              <a:ext uri="{FF2B5EF4-FFF2-40B4-BE49-F238E27FC236}">
                <a16:creationId xmlns:a16="http://schemas.microsoft.com/office/drawing/2014/main" id="{3C4EEA15-EAF0-46E4-8C8C-81D286F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Quando a conta fica espalhada, o atendimento perde velocidade e confiança.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C6BA4E0-9482-49B0-A745-DE57E6D1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OpenAI Hackathon Brasil · Pequenos Negócios</a:t>
            </a:r>
          </a:p>
        </p:txBody>
      </p:sp>
    </p:spTree>
    <p:extLst>
      <p:ext uri="{BB962C8B-B14F-4D97-AF65-F5344CB8AC3E}">
        <p14:creationId xmlns:p14="http://schemas.microsoft.com/office/powerpoint/2010/main" val="1017535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c0ae57d3748cd"/>
          <a:stretch xmlns:a="http://schemas.openxmlformats.org/drawingml/2006/main"/>
        </p:blipFill>
        <p:spPr>
          <a:xfrm xmlns:a="http://schemas.openxmlformats.org/drawingml/2006/main">
            <a:off x="571500" y="3238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brand-3">
            <a:extLst xmlns:a="http://schemas.openxmlformats.org/drawingml/2006/main">
              <a:ext uri="{FF2B5EF4-FFF2-40B4-BE49-F238E27FC236}">
                <a16:creationId xmlns:a16="http://schemas.microsoft.com/office/drawing/2014/main" id="{D67B8AA7-C5EC-46C1-9E0F-186AE97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4B"/>
                </a:solidFill>
                <a:latin typeface="Arial"/>
                <a:ea typeface="Arial"/>
                <a:cs typeface="Arial"/>
              </a:rPr>
              <a:t>MILESAI</a:t>
            </a:r>
          </a:p>
        </p:txBody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F45506A4-9F5E-4091-AA27-9278D889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ockpit-title">
            <a:extLst xmlns:a="http://schemas.openxmlformats.org/drawingml/2006/main">
              <a:ext uri="{FF2B5EF4-FFF2-40B4-BE49-F238E27FC236}">
                <a16:creationId xmlns:a16="http://schemas.microsoft.com/office/drawing/2014/main" id="{6A54DCAA-5740-4F7D-9B50-FA816AC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4238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Tudo que merece atenção,</a:t>
            </a:r>
          </a:p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em um só cockpit.</a:t>
            </a:r>
          </a:p>
        </p:txBody>
      </p:sp>
      <p:sp>
        <p:nvSpPr>
          <p:cNvPr id="5" name="cockpit-copy">
            <a:extLst xmlns:a="http://schemas.openxmlformats.org/drawingml/2006/main">
              <a:ext uri="{FF2B5EF4-FFF2-40B4-BE49-F238E27FC236}">
                <a16:creationId xmlns:a16="http://schemas.microsoft.com/office/drawing/2014/main" id="{8CE97E8D-764B-4BCB-ACE0-572B4767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O MilesAI organiza o trabalho diário e transforma dados dispersos em próximas ações.</a:t>
            </a:r>
          </a:p>
        </p:txBody>
      </p:sp>
      <p:sp>
        <p:nvSpPr>
          <p:cNvPr id="6" name="cockpit-index-0">
            <a:extLst xmlns:a="http://schemas.openxmlformats.org/drawingml/2006/main">
              <a:ext uri="{FF2B5EF4-FFF2-40B4-BE49-F238E27FC236}">
                <a16:creationId xmlns:a16="http://schemas.microsoft.com/office/drawing/2014/main" id="{84AB9116-693D-44D0-A858-2D6B6A8E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cockpit-item-0">
            <a:extLst xmlns:a="http://schemas.openxmlformats.org/drawingml/2006/main">
              <a:ext uri="{FF2B5EF4-FFF2-40B4-BE49-F238E27FC236}">
                <a16:creationId xmlns:a16="http://schemas.microsoft.com/office/drawing/2014/main" id="{0BE1F545-58AD-4E3D-8E88-37AD885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Clientes e viagens</a:t>
            </a:r>
          </a:p>
        </p:txBody>
      </p:sp>
      <p:sp>
        <p:nvSpPr>
          <p:cNvPr id="8" name="cockpit-rule-0">
            <a:extLst xmlns:a="http://schemas.openxmlformats.org/drawingml/2006/main">
              <a:ext uri="{FF2B5EF4-FFF2-40B4-BE49-F238E27FC236}">
                <a16:creationId xmlns:a16="http://schemas.microsoft.com/office/drawing/2014/main" id="{11E2CDD2-3D3C-476A-ACBD-BBAA2E6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ckpit-index-1">
            <a:extLst xmlns:a="http://schemas.openxmlformats.org/drawingml/2006/main">
              <a:ext uri="{FF2B5EF4-FFF2-40B4-BE49-F238E27FC236}">
                <a16:creationId xmlns:a16="http://schemas.microsoft.com/office/drawing/2014/main" id="{47B450D9-EF62-4053-AD8D-16C5FBAE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ockpit-item-1">
            <a:extLst xmlns:a="http://schemas.openxmlformats.org/drawingml/2006/main">
              <a:ext uri="{FF2B5EF4-FFF2-40B4-BE49-F238E27FC236}">
                <a16:creationId xmlns:a16="http://schemas.microsoft.com/office/drawing/2014/main" id="{84585759-6E54-4A06-9B33-A80A708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Carteiras e milheiro</a:t>
            </a:r>
          </a:p>
        </p:txBody>
      </p:sp>
      <p:sp>
        <p:nvSpPr>
          <p:cNvPr id="11" name="cockpit-rule-1">
            <a:extLst xmlns:a="http://schemas.openxmlformats.org/drawingml/2006/main">
              <a:ext uri="{FF2B5EF4-FFF2-40B4-BE49-F238E27FC236}">
                <a16:creationId xmlns:a16="http://schemas.microsoft.com/office/drawing/2014/main" id="{482D0547-A067-4F1D-A385-AAB6BE17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ckpit-index-2">
            <a:extLst xmlns:a="http://schemas.openxmlformats.org/drawingml/2006/main">
              <a:ext uri="{FF2B5EF4-FFF2-40B4-BE49-F238E27FC236}">
                <a16:creationId xmlns:a16="http://schemas.microsoft.com/office/drawing/2014/main" id="{FA2CDED4-66D4-424D-A361-DAB316A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ockpit-item-2">
            <a:extLst xmlns:a="http://schemas.openxmlformats.org/drawingml/2006/main">
              <a:ext uri="{FF2B5EF4-FFF2-40B4-BE49-F238E27FC236}">
                <a16:creationId xmlns:a16="http://schemas.microsoft.com/office/drawing/2014/main" id="{4336F519-C865-4989-887B-D07074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Ofertas e oportunidades</a:t>
            </a:r>
          </a:p>
        </p:txBody>
      </p:sp>
      <p:sp>
        <p:nvSpPr>
          <p:cNvPr id="14" name="dashboard-shadow">
            <a:extLst xmlns:a="http://schemas.openxmlformats.org/drawingml/2006/main">
              <a:ext uri="{FF2B5EF4-FFF2-40B4-BE49-F238E27FC236}">
                <a16:creationId xmlns:a16="http://schemas.microsoft.com/office/drawing/2014/main" id="{4E5A51F7-E3F9-476A-8BB7-86B2D47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181100"/>
            <a:ext cx="68199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c78d389f741bc"/>
          <a:srcRect xmlns:a="http://schemas.openxmlformats.org/drawingml/2006/main" l="57" t="0" r="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257300"/>
            <a:ext cx="66675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6" name="dashboard-caption">
            <a:extLst xmlns:a="http://schemas.openxmlformats.org/drawingml/2006/main">
              <a:ext uri="{FF2B5EF4-FFF2-40B4-BE49-F238E27FC236}">
                <a16:creationId xmlns:a16="http://schemas.microsoft.com/office/drawing/2014/main" id="{A968AA44-B9DE-4C32-8506-48EF7B1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6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Build Docker funcional · dados simulados identificados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1EE216C9-B436-4A2E-BB06-12DDB85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OpenAI Hackathon Brasil · Pequenos Negócios</a:t>
            </a:r>
          </a:p>
        </p:txBody>
      </p:sp>
    </p:spTree>
    <p:extLst>
      <p:ext uri="{BB962C8B-B14F-4D97-AF65-F5344CB8AC3E}">
        <p14:creationId xmlns:p14="http://schemas.microsoft.com/office/powerpoint/2010/main" val="1593688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75678f7354a36"/>
          <a:stretch xmlns:a="http://schemas.openxmlformats.org/drawingml/2006/main"/>
        </p:blipFill>
        <p:spPr>
          <a:xfrm xmlns:a="http://schemas.openxmlformats.org/drawingml/2006/main">
            <a:off x="571500" y="3238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brand-4">
            <a:extLst xmlns:a="http://schemas.openxmlformats.org/drawingml/2006/main">
              <a:ext uri="{FF2B5EF4-FFF2-40B4-BE49-F238E27FC236}">
                <a16:creationId xmlns:a16="http://schemas.microsoft.com/office/drawing/2014/main" id="{5B1048D2-C1A9-4467-8847-3AFF8540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4B"/>
                </a:solidFill>
                <a:latin typeface="Arial"/>
                <a:ea typeface="Arial"/>
                <a:cs typeface="Arial"/>
              </a:rPr>
              <a:t>MILESAI</a:t>
            </a:r>
          </a:p>
        </p:txBody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429767F2-A9E5-4BDE-8061-4010817E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ngine-title">
            <a:extLst xmlns:a="http://schemas.openxmlformats.org/drawingml/2006/main">
              <a:ext uri="{FF2B5EF4-FFF2-40B4-BE49-F238E27FC236}">
                <a16:creationId xmlns:a16="http://schemas.microsoft.com/office/drawing/2014/main" id="{BD3330C9-7D8D-4E66-AE1F-1F13E79E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542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A IA compreende e explica.</a:t>
            </a:r>
          </a:p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O motor calcula.</a:t>
            </a:r>
          </a:p>
        </p:txBody>
      </p:sp>
      <p:sp>
        <p:nvSpPr>
          <p:cNvPr id="5" name="strategy-shadow">
            <a:extLst xmlns:a="http://schemas.openxmlformats.org/drawingml/2006/main">
              <a:ext uri="{FF2B5EF4-FFF2-40B4-BE49-F238E27FC236}">
                <a16:creationId xmlns:a16="http://schemas.microsoft.com/office/drawing/2014/main" id="{92465572-B9A2-46C6-AC41-1345E02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68199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12440b91f43dc"/>
          <a:srcRect xmlns:a="http://schemas.openxmlformats.org/drawingml/2006/main" l="57" t="0" r="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76500"/>
            <a:ext cx="66675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7" name="openai-label">
            <a:extLst xmlns:a="http://schemas.openxmlformats.org/drawingml/2006/main">
              <a:ext uri="{FF2B5EF4-FFF2-40B4-BE49-F238E27FC236}">
                <a16:creationId xmlns:a16="http://schemas.microsoft.com/office/drawing/2014/main" id="{15A8E624-DEC2-4D6C-8972-FB1F27F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8" name="openai-copy">
            <a:extLst xmlns:a="http://schemas.openxmlformats.org/drawingml/2006/main">
              <a:ext uri="{FF2B5EF4-FFF2-40B4-BE49-F238E27FC236}">
                <a16:creationId xmlns:a16="http://schemas.microsoft.com/office/drawing/2014/main" id="{D0FEABAD-C30B-43FC-9DD3-DCB4435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Estrutura o pedido e traduz a recomendação em linguagem simples.</a:t>
            </a:r>
          </a:p>
        </p:txBody>
      </p:sp>
      <p:sp>
        <p:nvSpPr>
          <p:cNvPr id="9" name="engine-divider-1">
            <a:extLst xmlns:a="http://schemas.openxmlformats.org/drawingml/2006/main">
              <a:ext uri="{FF2B5EF4-FFF2-40B4-BE49-F238E27FC236}">
                <a16:creationId xmlns:a16="http://schemas.microsoft.com/office/drawing/2014/main" id="{FAB9F53E-C6A6-45C5-991E-9AFF9238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terministic-label">
            <a:extLst xmlns:a="http://schemas.openxmlformats.org/drawingml/2006/main">
              <a:ext uri="{FF2B5EF4-FFF2-40B4-BE49-F238E27FC236}">
                <a16:creationId xmlns:a16="http://schemas.microsoft.com/office/drawing/2014/main" id="{0EF6E5BA-65AE-4C1C-8AD7-88ED93D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96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9659"/>
                </a:solidFill>
                <a:latin typeface="Arial"/>
                <a:ea typeface="Arial"/>
                <a:cs typeface="Arial"/>
              </a:rPr>
              <a:t>MOTOR DETERMINÍSTICO</a:t>
            </a:r>
          </a:p>
        </p:txBody>
      </p:sp>
      <p:sp>
        <p:nvSpPr>
          <p:cNvPr id="11" name="deterministic-copy">
            <a:extLst xmlns:a="http://schemas.openxmlformats.org/drawingml/2006/main">
              <a:ext uri="{FF2B5EF4-FFF2-40B4-BE49-F238E27FC236}">
                <a16:creationId xmlns:a16="http://schemas.microsoft.com/office/drawing/2014/main" id="{07926957-D409-4DAE-941A-095C577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Compara custos, saldos, taxas e bônus com regras auditáveis.</a:t>
            </a:r>
          </a:p>
        </p:txBody>
      </p:sp>
      <p:sp>
        <p:nvSpPr>
          <p:cNvPr id="12" name="engine-divider-2">
            <a:extLst xmlns:a="http://schemas.openxmlformats.org/drawingml/2006/main">
              <a:ext uri="{FF2B5EF4-FFF2-40B4-BE49-F238E27FC236}">
                <a16:creationId xmlns:a16="http://schemas.microsoft.com/office/drawing/2014/main" id="{2750B2A5-51D1-4F0F-A0A6-EEED49E6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llback-label">
            <a:extLst xmlns:a="http://schemas.openxmlformats.org/drawingml/2006/main">
              <a:ext uri="{FF2B5EF4-FFF2-40B4-BE49-F238E27FC236}">
                <a16:creationId xmlns:a16="http://schemas.microsoft.com/office/drawing/2014/main" id="{D8EC9164-EBF1-40A7-8913-CAB11551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FALLBACK COMPLETO</a:t>
            </a:r>
          </a:p>
        </p:txBody>
      </p:sp>
      <p:sp>
        <p:nvSpPr>
          <p:cNvPr id="14" name="fallback-copy">
            <a:extLst xmlns:a="http://schemas.openxmlformats.org/drawingml/2006/main">
              <a:ext uri="{FF2B5EF4-FFF2-40B4-BE49-F238E27FC236}">
                <a16:creationId xmlns:a16="http://schemas.microsoft.com/office/drawing/2014/main" id="{FF79DBE5-ED32-40A9-933F-95475FE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Sem API, o fluxo continua pelos formulários estruturados.</a:t>
            </a:r>
          </a:p>
        </p:txBody>
      </p:sp>
    </p:spTree>
    <p:extLst>
      <p:ext uri="{BB962C8B-B14F-4D97-AF65-F5344CB8AC3E}">
        <p14:creationId xmlns:p14="http://schemas.microsoft.com/office/powerpoint/2010/main" val="485464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a744411c430f"/>
          <a:stretch xmlns:a="http://schemas.openxmlformats.org/drawingml/2006/main"/>
        </p:blipFill>
        <p:spPr>
          <a:xfrm xmlns:a="http://schemas.openxmlformats.org/drawingml/2006/main">
            <a:off x="571500" y="3238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brand-5">
            <a:extLst xmlns:a="http://schemas.openxmlformats.org/drawingml/2006/main">
              <a:ext uri="{FF2B5EF4-FFF2-40B4-BE49-F238E27FC236}">
                <a16:creationId xmlns:a16="http://schemas.microsoft.com/office/drawing/2014/main" id="{BEF7535A-283E-4509-BB70-EB8D400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4B"/>
                </a:solidFill>
                <a:latin typeface="Arial"/>
                <a:ea typeface="Arial"/>
                <a:cs typeface="Arial"/>
              </a:rPr>
              <a:t>MILESAI</a:t>
            </a:r>
          </a:p>
        </p:txBody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A6EA1C29-DFAC-4C37-9A93-963E999A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proactive-title">
            <a:extLst xmlns:a="http://schemas.openxmlformats.org/drawingml/2006/main">
              <a:ext uri="{FF2B5EF4-FFF2-40B4-BE49-F238E27FC236}">
                <a16:creationId xmlns:a16="http://schemas.microsoft.com/office/drawing/2014/main" id="{AD8CDD86-EBF3-42D1-8689-E881784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44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Uma condição muda.</a:t>
            </a:r>
          </a:p>
          <a:p xmlns:a="http://schemas.openxmlformats.org/drawingml/2006/main">
            <a:pPr algn="l">
              <a:defRPr sz="3300" b="0">
                <a:solidFill>
                  <a:srgbClr val="102521"/>
                </a:solidFill>
                <a:latin typeface="PT Serif"/>
                <a:ea typeface="PT Serif"/>
                <a:cs typeface="PT Serif"/>
              </a:defRPr>
            </a:pPr>
            <a:r>
              <a:rPr sz="3300" b="0">
                <a:solidFill>
                  <a:srgbClr val="102521"/>
                </a:solidFill>
                <a:latin typeface="PT Serif"/>
                <a:ea typeface="PT Serif"/>
                <a:cs typeface="PT Serif"/>
              </a:rPr>
              <a:t>A recomendação também.</a:t>
            </a:r>
          </a:p>
        </p:txBody>
      </p:sp>
      <p:sp>
        <p:nvSpPr>
          <p:cNvPr id="5" name="proactive-copy">
            <a:extLst xmlns:a="http://schemas.openxmlformats.org/drawingml/2006/main">
              <a:ext uri="{FF2B5EF4-FFF2-40B4-BE49-F238E27FC236}">
                <a16:creationId xmlns:a16="http://schemas.microsoft.com/office/drawing/2014/main" id="{36F6D061-8787-4C95-AFE9-1226BB4F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Preço do milheiro, tarifa, saldo, taxa, disponibilidade ou bônus.</a:t>
            </a:r>
          </a:p>
        </p:txBody>
      </p:sp>
      <p:sp>
        <p:nvSpPr>
          <p:cNvPr id="6" name="flow">
            <a:extLst xmlns:a="http://schemas.openxmlformats.org/drawingml/2006/main">
              <a:ext uri="{FF2B5EF4-FFF2-40B4-BE49-F238E27FC236}">
                <a16:creationId xmlns:a16="http://schemas.microsoft.com/office/drawing/2014/main" id="{8DE60315-A46A-4482-ACB1-A7C89475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A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75"/>
                </a:solidFill>
                <a:latin typeface="Arial"/>
                <a:ea typeface="Arial"/>
                <a:cs typeface="Arial"/>
              </a:rPr>
              <a:t>RECALCULA  →  CRUZA  →  PRIORIZA</a:t>
            </a:r>
          </a:p>
        </p:txBody>
      </p:sp>
      <p:sp>
        <p:nvSpPr>
          <p:cNvPr id="7" name="flow-rule">
            <a:extLst xmlns:a="http://schemas.openxmlformats.org/drawingml/2006/main">
              <a:ext uri="{FF2B5EF4-FFF2-40B4-BE49-F238E27FC236}">
                <a16:creationId xmlns:a16="http://schemas.microsoft.com/office/drawing/2014/main" id="{EAB0EDD6-23EF-4C2D-8EC6-935EF676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414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ardrail">
            <a:extLst xmlns:a="http://schemas.openxmlformats.org/drawingml/2006/main">
              <a:ext uri="{FF2B5EF4-FFF2-40B4-BE49-F238E27FC236}">
                <a16:creationId xmlns:a16="http://schemas.microsoft.com/office/drawing/2014/main" id="{B1461FA7-7A16-49B5-85B5-FD201949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Dados mock e live são identificados.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12B"/>
                </a:solidFill>
                <a:latin typeface="Arial"/>
                <a:ea typeface="Arial"/>
                <a:cs typeface="Arial"/>
              </a:rPr>
              <a:t>A ação final continua humana.</a:t>
            </a:r>
          </a:p>
        </p:txBody>
      </p:sp>
      <p:sp>
        <p:nvSpPr>
          <p:cNvPr id="9" name="opportunities-shadow">
            <a:extLst xmlns:a="http://schemas.openxmlformats.org/drawingml/2006/main">
              <a:ext uri="{FF2B5EF4-FFF2-40B4-BE49-F238E27FC236}">
                <a16:creationId xmlns:a16="http://schemas.microsoft.com/office/drawing/2014/main" id="{30C787B0-DCED-4AF7-8518-A1B359E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85900"/>
            <a:ext cx="61531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61722bb8948ea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562100"/>
            <a:ext cx="600075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11" name="opportunities-caption">
            <a:extLst xmlns:a="http://schemas.openxmlformats.org/drawingml/2006/main">
              <a:ext uri="{FF2B5EF4-FFF2-40B4-BE49-F238E27FC236}">
                <a16:creationId xmlns:a16="http://schemas.microsoft.com/office/drawing/2014/main" id="{99BC8E13-157D-4365-8FE6-FE24765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Matching seletivo · alertas deduplicados · confirmação humana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68BAF26-6008-43FE-A1BD-4307D9E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269"/>
                </a:solidFill>
                <a:latin typeface="Arial"/>
                <a:ea typeface="Arial"/>
                <a:cs typeface="Arial"/>
              </a:rPr>
              <a:t>OpenAI Hackathon Brasil · Pequenos Negócios</a:t>
            </a:r>
          </a:p>
        </p:txBody>
      </p:sp>
    </p:spTree>
    <p:extLst>
      <p:ext uri="{BB962C8B-B14F-4D97-AF65-F5344CB8AC3E}">
        <p14:creationId xmlns:p14="http://schemas.microsoft.com/office/powerpoint/2010/main" val="1428025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7e0d5c23d4154"/>
          <a:stretch xmlns:a="http://schemas.openxmlformats.org/drawingml/2006/main"/>
        </p:blipFill>
        <p:spPr>
          <a:xfrm xmlns:a="http://schemas.openxmlformats.org/drawingml/2006/main">
            <a:off x="718167" y="552450"/>
            <a:ext cx="2411767" cy="609600"/>
          </a:xfrm>
          <a:prstGeom xmlns:a="http://schemas.openxmlformats.org/drawingml/2006/main" prst="rect">
            <a:avLst/>
          </a:prstGeom>
        </p:spPr>
      </p:pic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97F24ECE-0174-44D0-9FE6-E2068DA3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382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0">
                <a:solidFill>
                  <a:srgbClr val="FBFAF6"/>
                </a:solidFill>
                <a:latin typeface="PT Serif"/>
                <a:ea typeface="PT Serif"/>
                <a:cs typeface="PT Serif"/>
              </a:defRPr>
            </a:pPr>
            <a:r>
              <a:rPr sz="4350" b="0">
                <a:solidFill>
                  <a:srgbClr val="FBFAF6"/>
                </a:solidFill>
                <a:latin typeface="PT Serif"/>
                <a:ea typeface="PT Serif"/>
                <a:cs typeface="PT Serif"/>
              </a:rPr>
              <a:t>Menos planilha.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0">
                <a:solidFill>
                  <a:srgbClr val="FBFAF6"/>
                </a:solidFill>
                <a:latin typeface="PT Serif"/>
                <a:ea typeface="PT Serif"/>
                <a:cs typeface="PT Serif"/>
              </a:defRPr>
            </a:pPr>
            <a:r>
              <a:rPr sz="4350" b="0">
                <a:solidFill>
                  <a:srgbClr val="FBFAF6"/>
                </a:solidFill>
                <a:latin typeface="PT Serif"/>
                <a:ea typeface="PT Serif"/>
                <a:cs typeface="PT Serif"/>
              </a:rPr>
              <a:t>Mais segurança.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0">
                <a:solidFill>
                  <a:srgbClr val="FBFAF6"/>
                </a:solidFill>
                <a:latin typeface="PT Serif"/>
                <a:ea typeface="PT Serif"/>
                <a:cs typeface="PT Serif"/>
              </a:defRPr>
            </a:pPr>
            <a:r>
              <a:rPr sz="4350" b="0">
                <a:solidFill>
                  <a:srgbClr val="FBFAF6"/>
                </a:solidFill>
                <a:latin typeface="PT Serif"/>
                <a:ea typeface="PT Serif"/>
                <a:cs typeface="PT Serif"/>
              </a:rPr>
              <a:t>Atendimento mais inteligente.</a:t>
            </a:r>
          </a:p>
        </p:txBody>
      </p:sp>
      <p:sp>
        <p:nvSpPr>
          <p:cNvPr id="3" name="closing-belief">
            <a:extLst xmlns:a="http://schemas.openxmlformats.org/drawingml/2006/main">
              <a:ext uri="{FF2B5EF4-FFF2-40B4-BE49-F238E27FC236}">
                <a16:creationId xmlns:a16="http://schemas.microsoft.com/office/drawing/2014/main" id="{2786F2A3-04B4-499F-B092-72DB89A9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CE9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E9DC"/>
                </a:solidFill>
                <a:latin typeface="Arial"/>
                <a:ea typeface="Arial"/>
                <a:cs typeface="Arial"/>
              </a:rPr>
              <a:t>O MilesAI não substitui o agente.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CE9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E9DC"/>
                </a:solidFill>
                <a:latin typeface="Arial"/>
                <a:ea typeface="Arial"/>
                <a:cs typeface="Arial"/>
              </a:rPr>
              <a:t>Amplia sua capacidade de decidir.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EAA9E388-1885-4EE6-990B-E9F774C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mo-label">
            <a:extLst xmlns:a="http://schemas.openxmlformats.org/drawingml/2006/main">
              <a:ext uri="{FF2B5EF4-FFF2-40B4-BE49-F238E27FC236}">
                <a16:creationId xmlns:a16="http://schemas.microsoft.com/office/drawing/2014/main" id="{98940501-3C17-4C6B-B36B-F2A2DE0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C7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FC796"/>
                </a:solidFill>
                <a:latin typeface="Arial"/>
                <a:ea typeface="Arial"/>
                <a:cs typeface="Arial"/>
              </a:rPr>
              <a:t>DEMONSTRAÇÃO AO VIVO</a:t>
            </a:r>
          </a:p>
        </p:txBody>
      </p:sp>
      <p:sp>
        <p:nvSpPr>
          <p:cNvPr id="6" name="demo-link">
            <a:extLst xmlns:a="http://schemas.openxmlformats.org/drawingml/2006/main">
              <a:ext uri="{FF2B5EF4-FFF2-40B4-BE49-F238E27FC236}">
                <a16:creationId xmlns:a16="http://schemas.microsoft.com/office/drawing/2014/main" id="{93817BE5-6744-4C34-8F39-F5E84D9F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9C8A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9C8AA"/>
                </a:solidFill>
                <a:latin typeface="Arial"/>
                <a:ea typeface="Arial"/>
                <a:cs typeface="Arial"/>
                <a:hlinkClick xmlns:r="http://schemas.openxmlformats.org/officeDocument/2006/relationships" r:id="R9d3fcbf1abf84a3c"/>
              </a:rPr>
              <a:t>https://reproduced-difficulty-entitled-characteristics.trycloudflare.com/</a:t>
            </a:r>
          </a:p>
        </p:txBody>
      </p:sp>
      <p:sp>
        <p:nvSpPr>
          <p:cNvPr id="7" name="closing-event">
            <a:extLst xmlns:a="http://schemas.openxmlformats.org/drawingml/2006/main">
              <a:ext uri="{FF2B5EF4-FFF2-40B4-BE49-F238E27FC236}">
                <a16:creationId xmlns:a16="http://schemas.microsoft.com/office/drawing/2014/main" id="{C8B685F9-4AE5-439C-BEDA-B4ED265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81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20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FC7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FC796"/>
                </a:solidFill>
                <a:latin typeface="Arial"/>
                <a:ea typeface="Arial"/>
                <a:cs typeface="Arial"/>
              </a:rPr>
              <a:t>OPENAI HACKATHON BRASIL</a:t>
            </a:r>
          </a:p>
        </p:txBody>
      </p:sp>
    </p:spTree>
    <p:extLst>
      <p:ext uri="{BB962C8B-B14F-4D97-AF65-F5344CB8AC3E}">
        <p14:creationId xmlns:p14="http://schemas.microsoft.com/office/powerpoint/2010/main" val="1106276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2026-08-19T19:40:32.8450000Z</dcterms:created>
  <dcterms:modified xsi:type="dcterms:W3CDTF">2026-08-19T19:40:32.8450000Z</dcterms:modified>
</coreProperties>
</file>